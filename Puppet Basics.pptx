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189" autoAdjust="0"/>
  </p:normalViewPr>
  <p:slideViewPr>
    <p:cSldViewPr>
      <p:cViewPr varScale="1">
        <p:scale>
          <a:sx n="64" d="100"/>
          <a:sy n="64" d="100"/>
        </p:scale>
        <p:origin x="-1554" y="-1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0D8DE9-E23D-4B76-851B-95ABA27B6DB3}" type="datetimeFigureOut">
              <a:rPr lang="en-IN" smtClean="0"/>
              <a:t>26-02-2018</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74F70EE-3D56-43B1-9D2B-553BAC5EC72D}" type="slidenum">
              <a:rPr lang="en-IN" smtClean="0"/>
              <a:t>‹#›</a:t>
            </a:fld>
            <a:endParaRPr lang="en-IN"/>
          </a:p>
        </p:txBody>
      </p:sp>
    </p:spTree>
    <p:extLst>
      <p:ext uri="{BB962C8B-B14F-4D97-AF65-F5344CB8AC3E}">
        <p14:creationId xmlns:p14="http://schemas.microsoft.com/office/powerpoint/2010/main" val="3412717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The Puppet Agent sends the Facts to the Puppet Master. Facts are basically key/value data pair that represents some aspect of Slave state, such as its IP address, up-time, operating system, or whether it’s a virtual machine. I will explain Facts in detail later in the blog.</a:t>
            </a:r>
          </a:p>
          <a:p>
            <a:r>
              <a:rPr lang="en-IN" sz="1200" b="0" i="0" kern="1200" dirty="0" smtClean="0">
                <a:solidFill>
                  <a:schemeClr val="tx1"/>
                </a:solidFill>
                <a:effectLst/>
                <a:latin typeface="+mn-lt"/>
                <a:ea typeface="+mn-ea"/>
                <a:cs typeface="+mn-cs"/>
              </a:rPr>
              <a:t>Puppet Master uses the facts to compile a </a:t>
            </a:r>
            <a:r>
              <a:rPr lang="en-IN" sz="1200" b="0" i="0" kern="1200" dirty="0" err="1" smtClean="0">
                <a:solidFill>
                  <a:schemeClr val="tx1"/>
                </a:solidFill>
                <a:effectLst/>
                <a:latin typeface="+mn-lt"/>
                <a:ea typeface="+mn-ea"/>
                <a:cs typeface="+mn-cs"/>
              </a:rPr>
              <a:t>Catalog</a:t>
            </a:r>
            <a:r>
              <a:rPr lang="en-IN" sz="1200" b="0" i="0" kern="1200" dirty="0" smtClean="0">
                <a:solidFill>
                  <a:schemeClr val="tx1"/>
                </a:solidFill>
                <a:effectLst/>
                <a:latin typeface="+mn-lt"/>
                <a:ea typeface="+mn-ea"/>
                <a:cs typeface="+mn-cs"/>
              </a:rPr>
              <a:t> that defines how the Slave should be configured. </a:t>
            </a:r>
            <a:r>
              <a:rPr lang="en-IN" sz="1200" b="0" i="0" kern="1200" dirty="0" err="1" smtClean="0">
                <a:solidFill>
                  <a:schemeClr val="tx1"/>
                </a:solidFill>
                <a:effectLst/>
                <a:latin typeface="+mn-lt"/>
                <a:ea typeface="+mn-ea"/>
                <a:cs typeface="+mn-cs"/>
              </a:rPr>
              <a:t>Catalog</a:t>
            </a:r>
            <a:r>
              <a:rPr lang="en-IN" sz="1200" b="0" i="0" kern="1200" dirty="0" smtClean="0">
                <a:solidFill>
                  <a:schemeClr val="tx1"/>
                </a:solidFill>
                <a:effectLst/>
                <a:latin typeface="+mn-lt"/>
                <a:ea typeface="+mn-ea"/>
                <a:cs typeface="+mn-cs"/>
              </a:rPr>
              <a:t> is a document that describes the desired state for each resource that Puppet Master manages on a Slave. Puppet Slave reports back to Master indicating that Configuration is complete, which is visible in the Puppet dashboard.</a:t>
            </a:r>
          </a:p>
          <a:p>
            <a:endParaRPr lang="en-IN" dirty="0"/>
          </a:p>
        </p:txBody>
      </p:sp>
      <p:sp>
        <p:nvSpPr>
          <p:cNvPr id="4" name="Slide Number Placeholder 3"/>
          <p:cNvSpPr>
            <a:spLocks noGrp="1"/>
          </p:cNvSpPr>
          <p:nvPr>
            <p:ph type="sldNum" sz="quarter" idx="10"/>
          </p:nvPr>
        </p:nvSpPr>
        <p:spPr/>
        <p:txBody>
          <a:bodyPr/>
          <a:lstStyle/>
          <a:p>
            <a:fld id="{F74F70EE-3D56-43B1-9D2B-553BAC5EC72D}" type="slidenum">
              <a:rPr lang="en-IN" smtClean="0"/>
              <a:t>6</a:t>
            </a:fld>
            <a:endParaRPr lang="en-IN"/>
          </a:p>
        </p:txBody>
      </p:sp>
    </p:spTree>
    <p:extLst>
      <p:ext uri="{BB962C8B-B14F-4D97-AF65-F5344CB8AC3E}">
        <p14:creationId xmlns:p14="http://schemas.microsoft.com/office/powerpoint/2010/main" val="3262348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1828800" y="3159760"/>
            <a:ext cx="4572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777240" y="1219200"/>
            <a:ext cx="7543800" cy="2152650"/>
          </a:xfrm>
        </p:spPr>
        <p:txBody>
          <a:bodyPr>
            <a:noAutofit/>
          </a:bodyPr>
          <a:lstStyle>
            <a:lvl1pPr>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133600" y="3375491"/>
            <a:ext cx="61722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Date Placeholder 14"/>
          <p:cNvSpPr>
            <a:spLocks noGrp="1"/>
          </p:cNvSpPr>
          <p:nvPr>
            <p:ph type="dt" sz="half" idx="10"/>
          </p:nvPr>
        </p:nvSpPr>
        <p:spPr/>
        <p:txBody>
          <a:bodyPr/>
          <a:lstStyle/>
          <a:p>
            <a:fld id="{22B9B32F-8E82-4B8F-BDC6-4E4A941F06A1}" type="datetimeFigureOut">
              <a:rPr lang="en-IN" smtClean="0"/>
              <a:t>26-02-2018</a:t>
            </a:fld>
            <a:endParaRPr lang="en-IN"/>
          </a:p>
        </p:txBody>
      </p:sp>
      <p:sp>
        <p:nvSpPr>
          <p:cNvPr id="16" name="Slide Number Placeholder 15"/>
          <p:cNvSpPr>
            <a:spLocks noGrp="1"/>
          </p:cNvSpPr>
          <p:nvPr>
            <p:ph type="sldNum" sz="quarter" idx="11"/>
          </p:nvPr>
        </p:nvSpPr>
        <p:spPr/>
        <p:txBody>
          <a:bodyPr/>
          <a:lstStyle/>
          <a:p>
            <a:fld id="{5565DD99-9861-43B9-85A6-E55F0771ABE3}" type="slidenum">
              <a:rPr lang="en-IN" smtClean="0"/>
              <a:t>‹#›</a:t>
            </a:fld>
            <a:endParaRPr lang="en-IN"/>
          </a:p>
        </p:txBody>
      </p:sp>
      <p:sp>
        <p:nvSpPr>
          <p:cNvPr id="17" name="Footer Placeholder 16"/>
          <p:cNvSpPr>
            <a:spLocks noGrp="1"/>
          </p:cNvSpPr>
          <p:nvPr>
            <p:ph type="ftr" sz="quarter" idx="12"/>
          </p:nvPr>
        </p:nvSpPr>
        <p:spPr/>
        <p:txBody>
          <a:bodyPr/>
          <a:lstStyle/>
          <a:p>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4" name="Date Placeholder 13"/>
          <p:cNvSpPr>
            <a:spLocks noGrp="1"/>
          </p:cNvSpPr>
          <p:nvPr>
            <p:ph type="dt" sz="half" idx="10"/>
          </p:nvPr>
        </p:nvSpPr>
        <p:spPr/>
        <p:txBody>
          <a:bodyPr/>
          <a:lstStyle/>
          <a:p>
            <a:fld id="{22B9B32F-8E82-4B8F-BDC6-4E4A941F06A1}" type="datetimeFigureOut">
              <a:rPr lang="en-IN" smtClean="0"/>
              <a:t>26-02-2018</a:t>
            </a:fld>
            <a:endParaRPr lang="en-IN"/>
          </a:p>
        </p:txBody>
      </p:sp>
      <p:sp>
        <p:nvSpPr>
          <p:cNvPr id="15" name="Slide Number Placeholder 14"/>
          <p:cNvSpPr>
            <a:spLocks noGrp="1"/>
          </p:cNvSpPr>
          <p:nvPr>
            <p:ph type="sldNum" sz="quarter" idx="11"/>
          </p:nvPr>
        </p:nvSpPr>
        <p:spPr/>
        <p:txBody>
          <a:bodyPr/>
          <a:lstStyle/>
          <a:p>
            <a:fld id="{5565DD99-9861-43B9-85A6-E55F0771ABE3}" type="slidenum">
              <a:rPr lang="en-IN" smtClean="0"/>
              <a:t>‹#›</a:t>
            </a:fld>
            <a:endParaRPr lang="en-IN"/>
          </a:p>
        </p:txBody>
      </p:sp>
      <p:sp>
        <p:nvSpPr>
          <p:cNvPr id="16" name="Footer Placeholder 15"/>
          <p:cNvSpPr>
            <a:spLocks noGrp="1"/>
          </p:cNvSpPr>
          <p:nvPr>
            <p:ph type="ftr" sz="quarter" idx="12"/>
          </p:nvPr>
        </p:nvSpPr>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4267200" y="4074497"/>
            <a:ext cx="4572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4572000" y="4267368"/>
            <a:ext cx="37338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Date Placeholder 11"/>
          <p:cNvSpPr>
            <a:spLocks noGrp="1"/>
          </p:cNvSpPr>
          <p:nvPr>
            <p:ph type="dt" sz="half" idx="10"/>
          </p:nvPr>
        </p:nvSpPr>
        <p:spPr/>
        <p:txBody>
          <a:bodyPr/>
          <a:lstStyle/>
          <a:p>
            <a:fld id="{22B9B32F-8E82-4B8F-BDC6-4E4A941F06A1}" type="datetimeFigureOut">
              <a:rPr lang="en-IN" smtClean="0"/>
              <a:t>26-02-2018</a:t>
            </a:fld>
            <a:endParaRPr lang="en-IN"/>
          </a:p>
        </p:txBody>
      </p:sp>
      <p:sp>
        <p:nvSpPr>
          <p:cNvPr id="13" name="Slide Number Placeholder 12"/>
          <p:cNvSpPr>
            <a:spLocks noGrp="1"/>
          </p:cNvSpPr>
          <p:nvPr>
            <p:ph type="sldNum" sz="quarter" idx="11"/>
          </p:nvPr>
        </p:nvSpPr>
        <p:spPr/>
        <p:txBody>
          <a:bodyPr/>
          <a:lstStyle/>
          <a:p>
            <a:fld id="{5565DD99-9861-43B9-85A6-E55F0771ABE3}" type="slidenum">
              <a:rPr lang="en-IN" smtClean="0"/>
              <a:t>‹#›</a:t>
            </a:fld>
            <a:endParaRPr lang="en-IN"/>
          </a:p>
        </p:txBody>
      </p:sp>
      <p:sp>
        <p:nvSpPr>
          <p:cNvPr id="14" name="Footer Placeholder 13"/>
          <p:cNvSpPr>
            <a:spLocks noGrp="1"/>
          </p:cNvSpPr>
          <p:nvPr>
            <p:ph type="ftr" sz="quarter" idx="12"/>
          </p:nvPr>
        </p:nvSpPr>
        <p:spPr/>
        <p:txBody>
          <a:bodyPr/>
          <a:lstStyle/>
          <a:p>
            <a:endParaRPr lang="en-IN"/>
          </a:p>
        </p:txBody>
      </p:sp>
      <p:sp>
        <p:nvSpPr>
          <p:cNvPr id="4" name="Title 3"/>
          <p:cNvSpPr>
            <a:spLocks noGrp="1"/>
          </p:cNvSpPr>
          <p:nvPr>
            <p:ph type="title"/>
          </p:nvPr>
        </p:nvSpPr>
        <p:spPr>
          <a:xfrm>
            <a:off x="2286000" y="1905000"/>
            <a:ext cx="603504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22B9B32F-8E82-4B8F-BDC6-4E4A941F06A1}" type="datetimeFigureOut">
              <a:rPr lang="en-IN" smtClean="0"/>
              <a:t>26-02-2018</a:t>
            </a:fld>
            <a:endParaRPr lang="en-IN"/>
          </a:p>
        </p:txBody>
      </p:sp>
      <p:sp>
        <p:nvSpPr>
          <p:cNvPr id="9" name="Slide Number Placeholder 8"/>
          <p:cNvSpPr>
            <a:spLocks noGrp="1"/>
          </p:cNvSpPr>
          <p:nvPr>
            <p:ph type="sldNum" sz="quarter" idx="11"/>
          </p:nvPr>
        </p:nvSpPr>
        <p:spPr/>
        <p:txBody>
          <a:bodyPr/>
          <a:lstStyle/>
          <a:p>
            <a:fld id="{5565DD99-9861-43B9-85A6-E55F0771ABE3}" type="slidenum">
              <a:rPr lang="en-IN" smtClean="0"/>
              <a:t>‹#›</a:t>
            </a:fld>
            <a:endParaRPr lang="en-IN"/>
          </a:p>
        </p:txBody>
      </p:sp>
      <p:sp>
        <p:nvSpPr>
          <p:cNvPr id="10" name="Footer Placeholder 9"/>
          <p:cNvSpPr>
            <a:spLocks noGrp="1"/>
          </p:cNvSpPr>
          <p:nvPr>
            <p:ph type="ftr" sz="quarter" idx="12"/>
          </p:nvPr>
        </p:nvSpPr>
        <p:spPr/>
        <p:txBody>
          <a:bodyPr/>
          <a:lstStyle/>
          <a:p>
            <a:endParaRPr lang="en-IN"/>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5" name="Content Placeholder 4"/>
          <p:cNvSpPr>
            <a:spLocks noGrp="1"/>
          </p:cNvSpPr>
          <p:nvPr>
            <p:ph sz="quarter" idx="13"/>
          </p:nvPr>
        </p:nvSpPr>
        <p:spPr>
          <a:xfrm>
            <a:off x="1344168" y="658368"/>
            <a:ext cx="3273552" cy="3429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6"/>
          <p:cNvSpPr>
            <a:spLocks noGrp="1"/>
          </p:cNvSpPr>
          <p:nvPr>
            <p:ph sz="quarter" idx="14"/>
          </p:nvPr>
        </p:nvSpPr>
        <p:spPr>
          <a:xfrm>
            <a:off x="5029200" y="658368"/>
            <a:ext cx="3273552" cy="3432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4112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44168" y="1371600"/>
            <a:ext cx="32766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2920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29200" y="1371600"/>
            <a:ext cx="3273552"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Box 12"/>
          <p:cNvSpPr txBox="1"/>
          <p:nvPr/>
        </p:nvSpPr>
        <p:spPr>
          <a:xfrm>
            <a:off x="105664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478028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14" name="Date Placeholder 13"/>
          <p:cNvSpPr>
            <a:spLocks noGrp="1"/>
          </p:cNvSpPr>
          <p:nvPr>
            <p:ph type="dt" sz="half" idx="10"/>
          </p:nvPr>
        </p:nvSpPr>
        <p:spPr/>
        <p:txBody>
          <a:bodyPr/>
          <a:lstStyle/>
          <a:p>
            <a:fld id="{22B9B32F-8E82-4B8F-BDC6-4E4A941F06A1}" type="datetimeFigureOut">
              <a:rPr lang="en-IN" smtClean="0"/>
              <a:t>26-02-2018</a:t>
            </a:fld>
            <a:endParaRPr lang="en-IN"/>
          </a:p>
        </p:txBody>
      </p:sp>
      <p:sp>
        <p:nvSpPr>
          <p:cNvPr id="15" name="Slide Number Placeholder 14"/>
          <p:cNvSpPr>
            <a:spLocks noGrp="1"/>
          </p:cNvSpPr>
          <p:nvPr>
            <p:ph type="sldNum" sz="quarter" idx="11"/>
          </p:nvPr>
        </p:nvSpPr>
        <p:spPr/>
        <p:txBody>
          <a:bodyPr/>
          <a:lstStyle/>
          <a:p>
            <a:fld id="{5565DD99-9861-43B9-85A6-E55F0771ABE3}" type="slidenum">
              <a:rPr lang="en-IN" smtClean="0"/>
              <a:t>‹#›</a:t>
            </a:fld>
            <a:endParaRPr lang="en-IN"/>
          </a:p>
        </p:txBody>
      </p:sp>
      <p:sp>
        <p:nvSpPr>
          <p:cNvPr id="16" name="Footer Placeholder 15"/>
          <p:cNvSpPr>
            <a:spLocks noGrp="1"/>
          </p:cNvSpPr>
          <p:nvPr>
            <p:ph type="ftr" sz="quarter" idx="12"/>
          </p:nvPr>
        </p:nvSpPr>
        <p:spPr/>
        <p:txBody>
          <a:bodyPr/>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7" name="Date Placeholder 6"/>
          <p:cNvSpPr>
            <a:spLocks noGrp="1"/>
          </p:cNvSpPr>
          <p:nvPr>
            <p:ph type="dt" sz="half" idx="10"/>
          </p:nvPr>
        </p:nvSpPr>
        <p:spPr/>
        <p:txBody>
          <a:bodyPr/>
          <a:lstStyle/>
          <a:p>
            <a:fld id="{22B9B32F-8E82-4B8F-BDC6-4E4A941F06A1}" type="datetimeFigureOut">
              <a:rPr lang="en-IN" smtClean="0"/>
              <a:t>26-02-2018</a:t>
            </a:fld>
            <a:endParaRPr lang="en-IN"/>
          </a:p>
        </p:txBody>
      </p:sp>
      <p:sp>
        <p:nvSpPr>
          <p:cNvPr id="8" name="Slide Number Placeholder 7"/>
          <p:cNvSpPr>
            <a:spLocks noGrp="1"/>
          </p:cNvSpPr>
          <p:nvPr>
            <p:ph type="sldNum" sz="quarter" idx="11"/>
          </p:nvPr>
        </p:nvSpPr>
        <p:spPr/>
        <p:txBody>
          <a:bodyPr/>
          <a:lstStyle/>
          <a:p>
            <a:fld id="{5565DD99-9861-43B9-85A6-E55F0771ABE3}" type="slidenum">
              <a:rPr lang="en-IN" smtClean="0"/>
              <a:t>‹#›</a:t>
            </a:fld>
            <a:endParaRPr lang="en-IN"/>
          </a:p>
        </p:txBody>
      </p:sp>
      <p:sp>
        <p:nvSpPr>
          <p:cNvPr id="9" name="Footer Placeholder 8"/>
          <p:cNvSpPr>
            <a:spLocks noGrp="1"/>
          </p:cNvSpPr>
          <p:nvPr>
            <p:ph type="ftr" sz="quarter" idx="12"/>
          </p:nvPr>
        </p:nvSpPr>
        <p:spPr/>
        <p:txBody>
          <a:bodyPr/>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2B9B32F-8E82-4B8F-BDC6-4E4A941F06A1}" type="datetimeFigureOut">
              <a:rPr lang="en-IN" smtClean="0"/>
              <a:t>26-02-2018</a:t>
            </a:fld>
            <a:endParaRPr lang="en-IN"/>
          </a:p>
        </p:txBody>
      </p:sp>
      <p:sp>
        <p:nvSpPr>
          <p:cNvPr id="6" name="Slide Number Placeholder 5"/>
          <p:cNvSpPr>
            <a:spLocks noGrp="1"/>
          </p:cNvSpPr>
          <p:nvPr>
            <p:ph type="sldNum" sz="quarter" idx="11"/>
          </p:nvPr>
        </p:nvSpPr>
        <p:spPr/>
        <p:txBody>
          <a:bodyPr/>
          <a:lstStyle/>
          <a:p>
            <a:fld id="{5565DD99-9861-43B9-85A6-E55F0771ABE3}" type="slidenum">
              <a:rPr lang="en-IN" smtClean="0"/>
              <a:t>‹#›</a:t>
            </a:fld>
            <a:endParaRPr lang="en-IN"/>
          </a:p>
        </p:txBody>
      </p:sp>
      <p:sp>
        <p:nvSpPr>
          <p:cNvPr id="7" name="Footer Placeholder 6"/>
          <p:cNvSpPr>
            <a:spLocks noGrp="1"/>
          </p:cNvSpPr>
          <p:nvPr>
            <p:ph type="ftr" sz="quarter" idx="12"/>
          </p:nvPr>
        </p:nvSpPr>
        <p:spPr/>
        <p:txBody>
          <a:bodyPr/>
          <a:lstStyle/>
          <a:p>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5328920" y="1774588"/>
            <a:ext cx="4572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838200" y="685801"/>
            <a:ext cx="43434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15000" y="685801"/>
            <a:ext cx="25908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5" name="Date Placeholder 14"/>
          <p:cNvSpPr>
            <a:spLocks noGrp="1"/>
          </p:cNvSpPr>
          <p:nvPr>
            <p:ph type="dt" sz="half" idx="10"/>
          </p:nvPr>
        </p:nvSpPr>
        <p:spPr/>
        <p:txBody>
          <a:bodyPr/>
          <a:lstStyle/>
          <a:p>
            <a:fld id="{22B9B32F-8E82-4B8F-BDC6-4E4A941F06A1}" type="datetimeFigureOut">
              <a:rPr lang="en-IN" smtClean="0"/>
              <a:t>26-02-2018</a:t>
            </a:fld>
            <a:endParaRPr lang="en-IN"/>
          </a:p>
        </p:txBody>
      </p:sp>
      <p:sp>
        <p:nvSpPr>
          <p:cNvPr id="16" name="Slide Number Placeholder 15"/>
          <p:cNvSpPr>
            <a:spLocks noGrp="1"/>
          </p:cNvSpPr>
          <p:nvPr>
            <p:ph type="sldNum" sz="quarter" idx="11"/>
          </p:nvPr>
        </p:nvSpPr>
        <p:spPr/>
        <p:txBody>
          <a:bodyPr/>
          <a:lstStyle/>
          <a:p>
            <a:fld id="{5565DD99-9861-43B9-85A6-E55F0771ABE3}" type="slidenum">
              <a:rPr lang="en-IN" smtClean="0"/>
              <a:t>‹#›</a:t>
            </a:fld>
            <a:endParaRPr lang="en-IN"/>
          </a:p>
        </p:txBody>
      </p:sp>
      <p:sp>
        <p:nvSpPr>
          <p:cNvPr id="17" name="Footer Placeholder 16"/>
          <p:cNvSpPr>
            <a:spLocks noGrp="1"/>
          </p:cNvSpPr>
          <p:nvPr>
            <p:ph type="ftr" sz="quarter" idx="12"/>
          </p:nvPr>
        </p:nvSpPr>
        <p:spPr/>
        <p:txBody>
          <a:bodyPr/>
          <a:lstStyle/>
          <a:p>
            <a:endParaRPr lang="en-IN"/>
          </a:p>
        </p:txBody>
      </p:sp>
      <p:sp>
        <p:nvSpPr>
          <p:cNvPr id="18" name="Title 1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219200" y="612775"/>
            <a:ext cx="67056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2743200" y="3453047"/>
            <a:ext cx="50292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Box 8"/>
          <p:cNvSpPr txBox="1"/>
          <p:nvPr/>
        </p:nvSpPr>
        <p:spPr>
          <a:xfrm>
            <a:off x="2435352" y="3331464"/>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3" name="Date Placeholder 12"/>
          <p:cNvSpPr>
            <a:spLocks noGrp="1"/>
          </p:cNvSpPr>
          <p:nvPr>
            <p:ph type="dt" sz="half" idx="10"/>
          </p:nvPr>
        </p:nvSpPr>
        <p:spPr/>
        <p:txBody>
          <a:bodyPr/>
          <a:lstStyle/>
          <a:p>
            <a:fld id="{22B9B32F-8E82-4B8F-BDC6-4E4A941F06A1}" type="datetimeFigureOut">
              <a:rPr lang="en-IN" smtClean="0"/>
              <a:t>26-02-2018</a:t>
            </a:fld>
            <a:endParaRPr lang="en-IN"/>
          </a:p>
        </p:txBody>
      </p:sp>
      <p:sp>
        <p:nvSpPr>
          <p:cNvPr id="14" name="Slide Number Placeholder 13"/>
          <p:cNvSpPr>
            <a:spLocks noGrp="1"/>
          </p:cNvSpPr>
          <p:nvPr>
            <p:ph type="sldNum" sz="quarter" idx="11"/>
          </p:nvPr>
        </p:nvSpPr>
        <p:spPr/>
        <p:txBody>
          <a:bodyPr/>
          <a:lstStyle/>
          <a:p>
            <a:fld id="{5565DD99-9861-43B9-85A6-E55F0771ABE3}" type="slidenum">
              <a:rPr lang="en-IN" smtClean="0"/>
              <a:t>‹#›</a:t>
            </a:fld>
            <a:endParaRPr lang="en-IN"/>
          </a:p>
        </p:txBody>
      </p:sp>
      <p:sp>
        <p:nvSpPr>
          <p:cNvPr id="15" name="Footer Placeholder 14"/>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133600" y="685801"/>
            <a:ext cx="5791200" cy="35051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B9B32F-8E82-4B8F-BDC6-4E4A941F06A1}" type="datetimeFigureOut">
              <a:rPr lang="en-IN" smtClean="0"/>
              <a:t>26-02-2018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65DD99-9861-43B9-85A6-E55F0771ABE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9600" y="609601"/>
            <a:ext cx="2133600" cy="5181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895600" y="685801"/>
            <a:ext cx="5029200" cy="45720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B9B32F-8E82-4B8F-BDC6-4E4A941F06A1}" type="datetimeFigureOut">
              <a:rPr lang="en-IN" smtClean="0"/>
              <a:t>26-02-2018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65DD99-9861-43B9-85A6-E55F0771ABE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373221" y="1038440"/>
            <a:ext cx="724062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274211" y="1165875"/>
            <a:ext cx="5538472" cy="4480459"/>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3277955" y="116854"/>
            <a:ext cx="6479362"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77240" y="4876800"/>
            <a:ext cx="7543800" cy="9144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2133600" y="685801"/>
            <a:ext cx="6096000" cy="3657599"/>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54738"/>
            <a:ext cx="21336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22B9B32F-8E82-4B8F-BDC6-4E4A941F06A1}" type="datetimeFigureOut">
              <a:rPr lang="en-IN" smtClean="0"/>
              <a:t>26-02-2018</a:t>
            </a:fld>
            <a:endParaRPr lang="en-IN"/>
          </a:p>
        </p:txBody>
      </p:sp>
      <p:sp>
        <p:nvSpPr>
          <p:cNvPr id="5" name="Footer Placeholder 4"/>
          <p:cNvSpPr>
            <a:spLocks noGrp="1"/>
          </p:cNvSpPr>
          <p:nvPr>
            <p:ph type="ftr" sz="quarter" idx="3"/>
          </p:nvPr>
        </p:nvSpPr>
        <p:spPr>
          <a:xfrm>
            <a:off x="822960" y="6154738"/>
            <a:ext cx="4572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IN"/>
          </a:p>
        </p:txBody>
      </p:sp>
      <p:sp>
        <p:nvSpPr>
          <p:cNvPr id="6" name="Slide Number Placeholder 5"/>
          <p:cNvSpPr>
            <a:spLocks noGrp="1"/>
          </p:cNvSpPr>
          <p:nvPr>
            <p:ph type="sldNum" sz="quarter" idx="4"/>
          </p:nvPr>
        </p:nvSpPr>
        <p:spPr>
          <a:xfrm>
            <a:off x="822960" y="5842000"/>
            <a:ext cx="21336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5565DD99-9861-43B9-85A6-E55F0771ABE3}"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t>Puppet Basics</a:t>
            </a:r>
            <a:endParaRPr lang="en-IN" b="1" dirty="0"/>
          </a:p>
        </p:txBody>
      </p:sp>
    </p:spTree>
    <p:extLst>
      <p:ext uri="{BB962C8B-B14F-4D97-AF65-F5344CB8AC3E}">
        <p14:creationId xmlns:p14="http://schemas.microsoft.com/office/powerpoint/2010/main" val="3080764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Puppet is a Free and Open Source software released under Apache License </a:t>
            </a:r>
            <a:endParaRPr lang="en-IN" dirty="0" smtClean="0"/>
          </a:p>
          <a:p>
            <a:r>
              <a:rPr lang="en-IN" dirty="0" smtClean="0"/>
              <a:t>Developed </a:t>
            </a:r>
            <a:r>
              <a:rPr lang="en-IN" dirty="0"/>
              <a:t>by Puppet </a:t>
            </a:r>
            <a:r>
              <a:rPr lang="en-IN" dirty="0" smtClean="0"/>
              <a:t>Labs</a:t>
            </a:r>
          </a:p>
          <a:p>
            <a:r>
              <a:rPr lang="en-IN" dirty="0" smtClean="0"/>
              <a:t>Supported in </a:t>
            </a:r>
            <a:r>
              <a:rPr lang="en-IN" dirty="0"/>
              <a:t>Linux, Mac, BSD, Solaris and Windows based computer </a:t>
            </a:r>
            <a:r>
              <a:rPr lang="en-IN" dirty="0" smtClean="0"/>
              <a:t>Systems</a:t>
            </a:r>
          </a:p>
          <a:p>
            <a:r>
              <a:rPr lang="en-IN" dirty="0" smtClean="0"/>
              <a:t>Written </a:t>
            </a:r>
            <a:r>
              <a:rPr lang="en-IN" dirty="0"/>
              <a:t>in ‘Ruby’ programming </a:t>
            </a:r>
            <a:r>
              <a:rPr lang="en-IN" dirty="0" smtClean="0"/>
              <a:t>Language</a:t>
            </a:r>
          </a:p>
        </p:txBody>
      </p:sp>
      <p:sp>
        <p:nvSpPr>
          <p:cNvPr id="2" name="Title 1"/>
          <p:cNvSpPr>
            <a:spLocks noGrp="1"/>
          </p:cNvSpPr>
          <p:nvPr>
            <p:ph type="title"/>
          </p:nvPr>
        </p:nvSpPr>
        <p:spPr>
          <a:xfrm>
            <a:off x="457200" y="476672"/>
            <a:ext cx="8229600" cy="940966"/>
          </a:xfrm>
        </p:spPr>
        <p:txBody>
          <a:bodyPr>
            <a:normAutofit fontScale="90000"/>
          </a:bodyPr>
          <a:lstStyle/>
          <a:p>
            <a:r>
              <a:rPr lang="en-IN" dirty="0"/>
              <a:t>What is Puppet?</a:t>
            </a:r>
            <a:br>
              <a:rPr lang="en-IN" dirty="0"/>
            </a:br>
            <a:endParaRPr lang="en-IN" dirty="0"/>
          </a:p>
        </p:txBody>
      </p:sp>
    </p:spTree>
    <p:extLst>
      <p:ext uri="{BB962C8B-B14F-4D97-AF65-F5344CB8AC3E}">
        <p14:creationId xmlns:p14="http://schemas.microsoft.com/office/powerpoint/2010/main" val="2543056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8760"/>
            <a:ext cx="8229600" cy="4857403"/>
          </a:xfrm>
        </p:spPr>
        <p:txBody>
          <a:bodyPr>
            <a:normAutofit/>
          </a:bodyPr>
          <a:lstStyle/>
          <a:p>
            <a:pPr fontAlgn="base"/>
            <a:r>
              <a:rPr lang="en-IN" dirty="0"/>
              <a:t>Designed in such a way that it prevents duplication for everyone solving the same problem.</a:t>
            </a:r>
          </a:p>
          <a:p>
            <a:pPr fontAlgn="base"/>
            <a:r>
              <a:rPr lang="en-IN" dirty="0"/>
              <a:t>Mature Tool</a:t>
            </a:r>
          </a:p>
          <a:p>
            <a:pPr fontAlgn="base"/>
            <a:r>
              <a:rPr lang="en-IN" dirty="0"/>
              <a:t>Powerful Framework</a:t>
            </a:r>
          </a:p>
          <a:p>
            <a:pPr fontAlgn="base"/>
            <a:r>
              <a:rPr lang="en-IN" dirty="0"/>
              <a:t>Simplify System Administrator’s Technical Task.</a:t>
            </a:r>
          </a:p>
          <a:p>
            <a:pPr fontAlgn="base"/>
            <a:r>
              <a:rPr lang="en-IN" dirty="0"/>
              <a:t>System Administrator’s task is written in Puppet’s Native code and can be shared.</a:t>
            </a:r>
          </a:p>
          <a:p>
            <a:pPr fontAlgn="base"/>
            <a:r>
              <a:rPr lang="en-IN" dirty="0"/>
              <a:t>Makes it possible to make rapid and repeatable changes automatically.</a:t>
            </a:r>
          </a:p>
          <a:p>
            <a:pPr fontAlgn="base"/>
            <a:r>
              <a:rPr lang="en-IN" dirty="0"/>
              <a:t>Maintains System Consistency and Integrity.</a:t>
            </a:r>
          </a:p>
          <a:p>
            <a:pPr fontAlgn="base"/>
            <a:r>
              <a:rPr lang="en-IN" dirty="0"/>
              <a:t>Helpful in managing Physical and Virtual devices as well as cloud.</a:t>
            </a:r>
          </a:p>
          <a:p>
            <a:endParaRPr lang="en-IN" dirty="0"/>
          </a:p>
        </p:txBody>
      </p:sp>
      <p:sp>
        <p:nvSpPr>
          <p:cNvPr id="2" name="Title 1"/>
          <p:cNvSpPr>
            <a:spLocks noGrp="1"/>
          </p:cNvSpPr>
          <p:nvPr>
            <p:ph type="title"/>
          </p:nvPr>
        </p:nvSpPr>
        <p:spPr>
          <a:xfrm>
            <a:off x="457200" y="260648"/>
            <a:ext cx="8229600" cy="1156990"/>
          </a:xfrm>
        </p:spPr>
        <p:txBody>
          <a:bodyPr>
            <a:normAutofit fontScale="90000"/>
          </a:bodyPr>
          <a:lstStyle/>
          <a:p>
            <a:r>
              <a:rPr lang="en-IN" dirty="0" smtClean="0"/>
              <a:t/>
            </a:r>
            <a:br>
              <a:rPr lang="en-IN" dirty="0" smtClean="0"/>
            </a:br>
            <a:r>
              <a:rPr lang="en-IN" dirty="0" smtClean="0"/>
              <a:t>Features </a:t>
            </a:r>
            <a:r>
              <a:rPr lang="en-IN" dirty="0"/>
              <a:t>of Puppet</a:t>
            </a:r>
            <a:br>
              <a:rPr lang="en-IN" dirty="0"/>
            </a:br>
            <a:endParaRPr lang="en-IN" dirty="0"/>
          </a:p>
        </p:txBody>
      </p:sp>
    </p:spTree>
    <p:extLst>
      <p:ext uri="{BB962C8B-B14F-4D97-AF65-F5344CB8AC3E}">
        <p14:creationId xmlns:p14="http://schemas.microsoft.com/office/powerpoint/2010/main" val="2966489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99592" y="1052736"/>
            <a:ext cx="7408333" cy="3384376"/>
          </a:xfrm>
        </p:spPr>
        <p:txBody>
          <a:bodyPr>
            <a:normAutofit/>
          </a:bodyPr>
          <a:lstStyle/>
          <a:p>
            <a:pPr lvl="1">
              <a:lnSpc>
                <a:spcPct val="95000"/>
              </a:lnSpc>
              <a:buClr>
                <a:srgbClr val="FFFFFF"/>
              </a:buClr>
              <a:buFontTx/>
              <a:buChar char="•"/>
            </a:pPr>
            <a:r>
              <a:rPr lang="en-US" sz="1800" b="1" dirty="0" smtClean="0">
                <a:solidFill>
                  <a:schemeClr val="tx1"/>
                </a:solidFill>
                <a:latin typeface="trebuchet ms" pitchFamily="34" charset="0"/>
              </a:rPr>
              <a:t>Google</a:t>
            </a:r>
            <a:endParaRPr lang="en-US" sz="1800" b="1" dirty="0">
              <a:solidFill>
                <a:schemeClr val="tx1"/>
              </a:solidFill>
            </a:endParaRPr>
          </a:p>
          <a:p>
            <a:pPr lvl="1">
              <a:lnSpc>
                <a:spcPct val="95000"/>
              </a:lnSpc>
              <a:buClr>
                <a:srgbClr val="FFFFFF"/>
              </a:buClr>
              <a:buFontTx/>
              <a:buChar char="•"/>
            </a:pPr>
            <a:r>
              <a:rPr lang="en-US" sz="1800" b="1" dirty="0" smtClean="0">
                <a:solidFill>
                  <a:schemeClr val="tx1"/>
                </a:solidFill>
                <a:latin typeface="trebuchet ms" pitchFamily="34" charset="0"/>
              </a:rPr>
              <a:t>Stanford </a:t>
            </a:r>
            <a:r>
              <a:rPr lang="en-US" sz="1800" b="1" dirty="0">
                <a:solidFill>
                  <a:schemeClr val="tx1"/>
                </a:solidFill>
                <a:latin typeface="trebuchet ms" pitchFamily="34" charset="0"/>
              </a:rPr>
              <a:t>University</a:t>
            </a:r>
            <a:endParaRPr lang="en-US" sz="1800" b="1" dirty="0">
              <a:solidFill>
                <a:schemeClr val="tx1"/>
              </a:solidFill>
            </a:endParaRPr>
          </a:p>
          <a:p>
            <a:pPr lvl="1">
              <a:lnSpc>
                <a:spcPct val="95000"/>
              </a:lnSpc>
              <a:buClr>
                <a:srgbClr val="FFFFFF"/>
              </a:buClr>
              <a:buFontTx/>
              <a:buChar char="•"/>
            </a:pPr>
            <a:r>
              <a:rPr lang="en-US" sz="1800" b="1" dirty="0">
                <a:solidFill>
                  <a:schemeClr val="tx1"/>
                </a:solidFill>
                <a:latin typeface="trebuchet ms" pitchFamily="34" charset="0"/>
              </a:rPr>
              <a:t>Fedora </a:t>
            </a:r>
            <a:endParaRPr lang="en-US" sz="1800" b="1" dirty="0">
              <a:solidFill>
                <a:schemeClr val="tx1"/>
              </a:solidFill>
            </a:endParaRPr>
          </a:p>
          <a:p>
            <a:pPr lvl="1">
              <a:lnSpc>
                <a:spcPct val="95000"/>
              </a:lnSpc>
              <a:buClr>
                <a:srgbClr val="FFFFFF"/>
              </a:buClr>
              <a:buFontTx/>
              <a:buChar char="•"/>
            </a:pPr>
            <a:r>
              <a:rPr lang="en-US" sz="1800" b="1" dirty="0">
                <a:solidFill>
                  <a:schemeClr val="tx1"/>
                </a:solidFill>
                <a:latin typeface="trebuchet ms" pitchFamily="34" charset="0"/>
              </a:rPr>
              <a:t>Twitter</a:t>
            </a:r>
            <a:endParaRPr lang="en-US" sz="1800" b="1" dirty="0">
              <a:solidFill>
                <a:schemeClr val="tx1"/>
              </a:solidFill>
            </a:endParaRPr>
          </a:p>
          <a:p>
            <a:pPr lvl="1">
              <a:lnSpc>
                <a:spcPct val="95000"/>
              </a:lnSpc>
              <a:buClr>
                <a:srgbClr val="FFFFFF"/>
              </a:buClr>
              <a:buFontTx/>
              <a:buChar char="•"/>
            </a:pPr>
            <a:r>
              <a:rPr lang="en-US" sz="1800" b="1" dirty="0">
                <a:solidFill>
                  <a:schemeClr val="tx1"/>
                </a:solidFill>
                <a:latin typeface="trebuchet ms" pitchFamily="34" charset="0"/>
              </a:rPr>
              <a:t>SANS Institute</a:t>
            </a:r>
            <a:endParaRPr lang="en-US" sz="1800" b="1" dirty="0">
              <a:solidFill>
                <a:schemeClr val="tx1"/>
              </a:solidFill>
            </a:endParaRPr>
          </a:p>
          <a:p>
            <a:pPr lvl="1">
              <a:lnSpc>
                <a:spcPct val="95000"/>
              </a:lnSpc>
              <a:buClr>
                <a:srgbClr val="FFFFFF"/>
              </a:buClr>
              <a:buFontTx/>
              <a:buChar char="•"/>
            </a:pPr>
            <a:r>
              <a:rPr lang="en-US" sz="1800" b="1" dirty="0">
                <a:solidFill>
                  <a:schemeClr val="tx1"/>
                </a:solidFill>
                <a:latin typeface="trebuchet ms" pitchFamily="34" charset="0"/>
              </a:rPr>
              <a:t>Sun Oracle</a:t>
            </a:r>
          </a:p>
          <a:p>
            <a:endParaRPr lang="en-IN" dirty="0"/>
          </a:p>
        </p:txBody>
      </p:sp>
      <p:sp>
        <p:nvSpPr>
          <p:cNvPr id="3" name="Title 2"/>
          <p:cNvSpPr>
            <a:spLocks noGrp="1"/>
          </p:cNvSpPr>
          <p:nvPr>
            <p:ph type="title"/>
          </p:nvPr>
        </p:nvSpPr>
        <p:spPr>
          <a:xfrm>
            <a:off x="457200" y="620688"/>
            <a:ext cx="8229600" cy="576064"/>
          </a:xfrm>
        </p:spPr>
        <p:txBody>
          <a:bodyPr>
            <a:normAutofit/>
          </a:bodyPr>
          <a:lstStyle/>
          <a:p>
            <a:pPr algn="l"/>
            <a:r>
              <a:rPr lang="en-IN" sz="1800" b="1" dirty="0" smtClean="0"/>
              <a:t>Current Users</a:t>
            </a:r>
            <a:endParaRPr lang="en-IN" sz="1800" b="1" dirty="0"/>
          </a:p>
        </p:txBody>
      </p:sp>
    </p:spTree>
    <p:extLst>
      <p:ext uri="{BB962C8B-B14F-4D97-AF65-F5344CB8AC3E}">
        <p14:creationId xmlns:p14="http://schemas.microsoft.com/office/powerpoint/2010/main" val="1564394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71600" y="1124744"/>
            <a:ext cx="6840760" cy="4953743"/>
          </a:xfrm>
        </p:spPr>
        <p:txBody>
          <a:bodyPr>
            <a:normAutofit fontScale="92500" lnSpcReduction="10000"/>
          </a:bodyPr>
          <a:lstStyle/>
          <a:p>
            <a:pPr lvl="1">
              <a:lnSpc>
                <a:spcPct val="95000"/>
              </a:lnSpc>
              <a:buClr>
                <a:srgbClr val="FFFFFF"/>
              </a:buClr>
              <a:buSzPct val="100000"/>
              <a:buFontTx/>
              <a:buChar char="•"/>
            </a:pPr>
            <a:r>
              <a:rPr lang="en-US" sz="2700" dirty="0">
                <a:solidFill>
                  <a:srgbClr val="FFFFFF"/>
                </a:solidFill>
                <a:latin typeface="trebuchet ms" pitchFamily="34" charset="0"/>
              </a:rPr>
              <a:t>Open TCP/UDP 8140 on server.</a:t>
            </a:r>
            <a:endParaRPr lang="en-US" dirty="0"/>
          </a:p>
          <a:p>
            <a:pPr lvl="1">
              <a:lnSpc>
                <a:spcPct val="95000"/>
              </a:lnSpc>
              <a:buClr>
                <a:srgbClr val="FFFFFF"/>
              </a:buClr>
              <a:buSzPct val="100000"/>
              <a:buFontTx/>
              <a:buChar char="•"/>
            </a:pPr>
            <a:r>
              <a:rPr lang="en-US" sz="2700" dirty="0">
                <a:solidFill>
                  <a:srgbClr val="FFFFFF"/>
                </a:solidFill>
                <a:latin typeface="trebuchet ms" pitchFamily="34" charset="0"/>
              </a:rPr>
              <a:t>Edit/create the necessary files:</a:t>
            </a:r>
            <a:endParaRPr lang="en-US" dirty="0"/>
          </a:p>
          <a:p>
            <a:pPr lvl="2">
              <a:lnSpc>
                <a:spcPct val="95000"/>
              </a:lnSpc>
              <a:buClr>
                <a:srgbClr val="FFFFFF"/>
              </a:buClr>
              <a:buSzPct val="80000"/>
              <a:buFont typeface="Courier New" pitchFamily="49" charset="0"/>
              <a:buChar char="o"/>
            </a:pPr>
            <a:r>
              <a:rPr lang="en-US" sz="2100" dirty="0">
                <a:solidFill>
                  <a:srgbClr val="FFFFFF"/>
                </a:solidFill>
                <a:latin typeface="trebuchet ms" pitchFamily="34" charset="0"/>
              </a:rPr>
              <a:t>/</a:t>
            </a:r>
            <a:r>
              <a:rPr lang="en-US" sz="2100" dirty="0" err="1">
                <a:solidFill>
                  <a:srgbClr val="FFFFFF"/>
                </a:solidFill>
                <a:latin typeface="trebuchet ms" pitchFamily="34" charset="0"/>
              </a:rPr>
              <a:t>etc</a:t>
            </a:r>
            <a:r>
              <a:rPr lang="en-US" sz="2100" dirty="0">
                <a:solidFill>
                  <a:srgbClr val="FFFFFF"/>
                </a:solidFill>
                <a:latin typeface="trebuchet ms" pitchFamily="34" charset="0"/>
              </a:rPr>
              <a:t>/puppet/</a:t>
            </a:r>
            <a:r>
              <a:rPr lang="en-US" sz="2100" dirty="0" err="1">
                <a:solidFill>
                  <a:srgbClr val="FFFFFF"/>
                </a:solidFill>
                <a:latin typeface="trebuchet ms" pitchFamily="34" charset="0"/>
              </a:rPr>
              <a:t>puppet.conf</a:t>
            </a:r>
            <a:endParaRPr lang="en-US" dirty="0"/>
          </a:p>
          <a:p>
            <a:pPr lvl="3">
              <a:lnSpc>
                <a:spcPct val="95000"/>
              </a:lnSpc>
              <a:buClr>
                <a:srgbClr val="FFFFFF"/>
              </a:buClr>
              <a:buSzPct val="100000"/>
              <a:buFont typeface="Wingdings" pitchFamily="2" charset="2"/>
              <a:buChar char="§"/>
            </a:pPr>
            <a:r>
              <a:rPr lang="en-US" sz="2100" dirty="0">
                <a:solidFill>
                  <a:srgbClr val="FFFFFF"/>
                </a:solidFill>
                <a:latin typeface="trebuchet ms" pitchFamily="34" charset="0"/>
              </a:rPr>
              <a:t>Main Puppet daemon(s), both client and server, configuration file. </a:t>
            </a:r>
            <a:endParaRPr lang="en-US" dirty="0"/>
          </a:p>
          <a:p>
            <a:pPr lvl="2">
              <a:lnSpc>
                <a:spcPct val="95000"/>
              </a:lnSpc>
              <a:buClr>
                <a:srgbClr val="FFFFFF"/>
              </a:buClr>
              <a:buSzPct val="80000"/>
              <a:buFont typeface="Courier New" pitchFamily="49" charset="0"/>
              <a:buChar char="o"/>
            </a:pPr>
            <a:r>
              <a:rPr lang="en-US" sz="2100" dirty="0">
                <a:solidFill>
                  <a:srgbClr val="FFFFFF"/>
                </a:solidFill>
                <a:latin typeface="trebuchet ms" pitchFamily="34" charset="0"/>
              </a:rPr>
              <a:t>/</a:t>
            </a:r>
            <a:r>
              <a:rPr lang="en-US" sz="2100" dirty="0" err="1">
                <a:solidFill>
                  <a:srgbClr val="FFFFFF"/>
                </a:solidFill>
                <a:latin typeface="trebuchet ms" pitchFamily="34" charset="0"/>
              </a:rPr>
              <a:t>etc</a:t>
            </a:r>
            <a:r>
              <a:rPr lang="en-US" sz="2100" dirty="0">
                <a:solidFill>
                  <a:srgbClr val="FFFFFF"/>
                </a:solidFill>
                <a:latin typeface="trebuchet ms" pitchFamily="34" charset="0"/>
              </a:rPr>
              <a:t>/puppet/manifests/</a:t>
            </a:r>
            <a:r>
              <a:rPr lang="en-US" sz="2100" dirty="0" err="1">
                <a:solidFill>
                  <a:srgbClr val="FFFFFF"/>
                </a:solidFill>
                <a:latin typeface="trebuchet ms" pitchFamily="34" charset="0"/>
              </a:rPr>
              <a:t>site.pp</a:t>
            </a:r>
            <a:endParaRPr lang="en-US" dirty="0"/>
          </a:p>
          <a:p>
            <a:pPr lvl="3">
              <a:lnSpc>
                <a:spcPct val="95000"/>
              </a:lnSpc>
              <a:buClr>
                <a:srgbClr val="FFFFFF"/>
              </a:buClr>
              <a:buSzPct val="100000"/>
              <a:buFont typeface="Wingdings" pitchFamily="2" charset="2"/>
              <a:buChar char="§"/>
            </a:pPr>
            <a:r>
              <a:rPr lang="en-US" sz="2100" dirty="0">
                <a:solidFill>
                  <a:srgbClr val="FFFFFF"/>
                </a:solidFill>
                <a:latin typeface="trebuchet ms" pitchFamily="34" charset="0"/>
              </a:rPr>
              <a:t>Central manifest capable of configuring an entire site.</a:t>
            </a:r>
            <a:endParaRPr lang="en-US" dirty="0"/>
          </a:p>
          <a:p>
            <a:pPr lvl="2">
              <a:lnSpc>
                <a:spcPct val="95000"/>
              </a:lnSpc>
              <a:buClr>
                <a:srgbClr val="FFFFFF"/>
              </a:buClr>
              <a:buSzPct val="80000"/>
              <a:buFont typeface="Courier New" pitchFamily="49" charset="0"/>
              <a:buChar char="o"/>
            </a:pPr>
            <a:r>
              <a:rPr lang="en-US" sz="2100" dirty="0">
                <a:solidFill>
                  <a:srgbClr val="FFFFFF"/>
                </a:solidFill>
                <a:latin typeface="trebuchet ms" pitchFamily="34" charset="0"/>
              </a:rPr>
              <a:t>/</a:t>
            </a:r>
            <a:r>
              <a:rPr lang="en-US" sz="2100" dirty="0" err="1">
                <a:solidFill>
                  <a:srgbClr val="FFFFFF"/>
                </a:solidFill>
                <a:latin typeface="trebuchet ms" pitchFamily="34" charset="0"/>
              </a:rPr>
              <a:t>etc</a:t>
            </a:r>
            <a:r>
              <a:rPr lang="en-US" sz="2100" dirty="0">
                <a:solidFill>
                  <a:srgbClr val="FFFFFF"/>
                </a:solidFill>
                <a:latin typeface="trebuchet ms" pitchFamily="34" charset="0"/>
              </a:rPr>
              <a:t>/puppet/manifests/</a:t>
            </a:r>
            <a:r>
              <a:rPr lang="en-US" sz="2100" dirty="0" err="1">
                <a:solidFill>
                  <a:srgbClr val="FFFFFF"/>
                </a:solidFill>
                <a:latin typeface="trebuchet ms" pitchFamily="34" charset="0"/>
              </a:rPr>
              <a:t>nodes.pp</a:t>
            </a:r>
            <a:endParaRPr lang="en-US" dirty="0"/>
          </a:p>
          <a:p>
            <a:pPr lvl="3">
              <a:lnSpc>
                <a:spcPct val="95000"/>
              </a:lnSpc>
              <a:buClr>
                <a:srgbClr val="FFFFFF"/>
              </a:buClr>
              <a:buSzPct val="100000"/>
              <a:buFont typeface="Wingdings" pitchFamily="2" charset="2"/>
              <a:buChar char="§"/>
            </a:pPr>
            <a:r>
              <a:rPr lang="en-US" sz="2100" dirty="0">
                <a:solidFill>
                  <a:srgbClr val="FFFFFF"/>
                </a:solidFill>
                <a:latin typeface="trebuchet ms" pitchFamily="34" charset="0"/>
              </a:rPr>
              <a:t>Contains node definitions.</a:t>
            </a:r>
            <a:endParaRPr lang="en-US" dirty="0"/>
          </a:p>
          <a:p>
            <a:pPr lvl="2">
              <a:lnSpc>
                <a:spcPct val="95000"/>
              </a:lnSpc>
              <a:buClr>
                <a:srgbClr val="FFFFFF"/>
              </a:buClr>
              <a:buSzPct val="80000"/>
              <a:buFont typeface="Courier New" pitchFamily="49" charset="0"/>
              <a:buChar char="o"/>
            </a:pPr>
            <a:r>
              <a:rPr lang="en-US" sz="2100" dirty="0">
                <a:solidFill>
                  <a:srgbClr val="FFFFFF"/>
                </a:solidFill>
                <a:latin typeface="trebuchet ms" pitchFamily="34" charset="0"/>
              </a:rPr>
              <a:t>/</a:t>
            </a:r>
            <a:r>
              <a:rPr lang="en-US" sz="2100" dirty="0" err="1">
                <a:solidFill>
                  <a:srgbClr val="FFFFFF"/>
                </a:solidFill>
                <a:latin typeface="trebuchet ms" pitchFamily="34" charset="0"/>
              </a:rPr>
              <a:t>etc</a:t>
            </a:r>
            <a:r>
              <a:rPr lang="en-US" sz="2100" dirty="0">
                <a:solidFill>
                  <a:srgbClr val="FFFFFF"/>
                </a:solidFill>
                <a:latin typeface="trebuchet ms" pitchFamily="34" charset="0"/>
              </a:rPr>
              <a:t>/puppet/manifests/</a:t>
            </a:r>
            <a:r>
              <a:rPr lang="en-US" sz="2100" dirty="0" err="1">
                <a:solidFill>
                  <a:srgbClr val="FFFFFF"/>
                </a:solidFill>
                <a:latin typeface="trebuchet ms" pitchFamily="34" charset="0"/>
              </a:rPr>
              <a:t>templates.pp</a:t>
            </a:r>
            <a:r>
              <a:rPr lang="en-US" sz="2100" dirty="0">
                <a:solidFill>
                  <a:srgbClr val="FFFFFF"/>
                </a:solidFill>
                <a:latin typeface="trebuchet ms" pitchFamily="34" charset="0"/>
              </a:rPr>
              <a:t> (optional)</a:t>
            </a:r>
            <a:endParaRPr lang="en-US" dirty="0"/>
          </a:p>
          <a:p>
            <a:pPr lvl="3">
              <a:lnSpc>
                <a:spcPct val="95000"/>
              </a:lnSpc>
              <a:buClr>
                <a:srgbClr val="FFFFFF"/>
              </a:buClr>
              <a:buSzPct val="100000"/>
              <a:buFont typeface="Wingdings" pitchFamily="2" charset="2"/>
              <a:buChar char="§"/>
            </a:pPr>
            <a:r>
              <a:rPr lang="en-US" sz="2100" dirty="0">
                <a:solidFill>
                  <a:srgbClr val="FFFFFF"/>
                </a:solidFill>
                <a:latin typeface="trebuchet ms" pitchFamily="34" charset="0"/>
              </a:rPr>
              <a:t>Contains template class definitions. </a:t>
            </a:r>
            <a:endParaRPr lang="en-US" dirty="0"/>
          </a:p>
          <a:p>
            <a:pPr lvl="1">
              <a:lnSpc>
                <a:spcPct val="95000"/>
              </a:lnSpc>
              <a:buClr>
                <a:srgbClr val="FFFFFF"/>
              </a:buClr>
              <a:buSzPct val="100000"/>
              <a:buFontTx/>
              <a:buChar char="•"/>
            </a:pPr>
            <a:r>
              <a:rPr lang="en-US" sz="2700" dirty="0">
                <a:solidFill>
                  <a:srgbClr val="FFFFFF"/>
                </a:solidFill>
                <a:latin typeface="trebuchet ms" pitchFamily="34" charset="0"/>
              </a:rPr>
              <a:t>Start the central daemon (Puppet Master):</a:t>
            </a:r>
            <a:endParaRPr lang="en-US" dirty="0"/>
          </a:p>
          <a:p>
            <a:pPr lvl="2">
              <a:lnSpc>
                <a:spcPct val="95000"/>
              </a:lnSpc>
              <a:buClr>
                <a:srgbClr val="FFFFFF"/>
              </a:buClr>
              <a:buSzPct val="80000"/>
              <a:buFont typeface="Courier New" pitchFamily="49" charset="0"/>
              <a:buChar char="o"/>
            </a:pPr>
            <a:r>
              <a:rPr lang="en-US" sz="2100" dirty="0">
                <a:solidFill>
                  <a:srgbClr val="FFFFFF"/>
                </a:solidFill>
                <a:latin typeface="trebuchet ms" pitchFamily="34" charset="0"/>
              </a:rPr>
              <a:t>/</a:t>
            </a:r>
            <a:r>
              <a:rPr lang="en-US" sz="2100" dirty="0" err="1">
                <a:solidFill>
                  <a:srgbClr val="FFFFFF"/>
                </a:solidFill>
                <a:latin typeface="trebuchet ms" pitchFamily="34" charset="0"/>
              </a:rPr>
              <a:t>etc</a:t>
            </a:r>
            <a:r>
              <a:rPr lang="en-US" sz="2100" dirty="0">
                <a:solidFill>
                  <a:srgbClr val="FFFFFF"/>
                </a:solidFill>
                <a:latin typeface="trebuchet ms" pitchFamily="34" charset="0"/>
              </a:rPr>
              <a:t>/</a:t>
            </a:r>
            <a:r>
              <a:rPr lang="en-US" sz="2100" dirty="0" err="1">
                <a:solidFill>
                  <a:srgbClr val="FFFFFF"/>
                </a:solidFill>
                <a:latin typeface="trebuchet ms" pitchFamily="34" charset="0"/>
              </a:rPr>
              <a:t>init.d</a:t>
            </a:r>
            <a:r>
              <a:rPr lang="en-US" sz="2100" dirty="0">
                <a:solidFill>
                  <a:srgbClr val="FFFFFF"/>
                </a:solidFill>
                <a:latin typeface="trebuchet ms" pitchFamily="34" charset="0"/>
              </a:rPr>
              <a:t>/</a:t>
            </a:r>
            <a:r>
              <a:rPr lang="en-US" sz="2100" dirty="0" err="1">
                <a:solidFill>
                  <a:srgbClr val="FFFFFF"/>
                </a:solidFill>
                <a:latin typeface="trebuchet ms" pitchFamily="34" charset="0"/>
              </a:rPr>
              <a:t>puppetmaster</a:t>
            </a:r>
            <a:r>
              <a:rPr lang="en-US" sz="2100" dirty="0">
                <a:solidFill>
                  <a:srgbClr val="FFFFFF"/>
                </a:solidFill>
                <a:latin typeface="trebuchet ms" pitchFamily="34" charset="0"/>
              </a:rPr>
              <a:t> start</a:t>
            </a:r>
          </a:p>
          <a:p>
            <a:pPr marL="18288" indent="0">
              <a:buNone/>
            </a:pPr>
            <a:endParaRPr lang="en-IN" dirty="0"/>
          </a:p>
        </p:txBody>
      </p:sp>
      <p:sp>
        <p:nvSpPr>
          <p:cNvPr id="3" name="Title 2"/>
          <p:cNvSpPr>
            <a:spLocks noGrp="1"/>
          </p:cNvSpPr>
          <p:nvPr>
            <p:ph type="title"/>
          </p:nvPr>
        </p:nvSpPr>
        <p:spPr>
          <a:xfrm>
            <a:off x="611560" y="116632"/>
            <a:ext cx="7543800" cy="914400"/>
          </a:xfrm>
        </p:spPr>
        <p:txBody>
          <a:bodyPr/>
          <a:lstStyle/>
          <a:p>
            <a:r>
              <a:rPr lang="en-US" sz="1600" dirty="0">
                <a:solidFill>
                  <a:srgbClr val="F4BC13"/>
                </a:solidFill>
                <a:latin typeface="trebuchet ms" pitchFamily="34" charset="0"/>
              </a:rPr>
              <a:t>Configuration</a:t>
            </a:r>
            <a:br>
              <a:rPr lang="en-US" sz="1600" dirty="0">
                <a:solidFill>
                  <a:srgbClr val="F4BC13"/>
                </a:solidFill>
                <a:latin typeface="trebuchet ms" pitchFamily="34" charset="0"/>
              </a:rPr>
            </a:br>
            <a:endParaRPr lang="en-IN" sz="1600" dirty="0"/>
          </a:p>
        </p:txBody>
      </p:sp>
    </p:spTree>
    <p:extLst>
      <p:ext uri="{BB962C8B-B14F-4D97-AF65-F5344CB8AC3E}">
        <p14:creationId xmlns:p14="http://schemas.microsoft.com/office/powerpoint/2010/main" val="1784118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03648" y="1772816"/>
            <a:ext cx="6096000" cy="3657599"/>
          </a:xfrm>
        </p:spPr>
        <p:txBody>
          <a:bodyPr/>
          <a:lstStyle/>
          <a:p>
            <a:endParaRPr lang="en-IN" dirty="0"/>
          </a:p>
        </p:txBody>
      </p:sp>
      <p:sp>
        <p:nvSpPr>
          <p:cNvPr id="3" name="Title 2"/>
          <p:cNvSpPr>
            <a:spLocks noGrp="1"/>
          </p:cNvSpPr>
          <p:nvPr>
            <p:ph type="title"/>
          </p:nvPr>
        </p:nvSpPr>
        <p:spPr>
          <a:xfrm>
            <a:off x="611560" y="116632"/>
            <a:ext cx="7543800" cy="914400"/>
          </a:xfrm>
        </p:spPr>
        <p:txBody>
          <a:bodyPr/>
          <a:lstStyle/>
          <a:p>
            <a:r>
              <a:rPr lang="en-IN" sz="2000" dirty="0" smtClean="0"/>
              <a:t>Architecture</a:t>
            </a:r>
            <a:endParaRPr lang="en-IN" sz="2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37" y="1484784"/>
            <a:ext cx="7629525" cy="420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36" y="1484784"/>
            <a:ext cx="7629525" cy="420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3810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700808"/>
            <a:ext cx="8064896" cy="3945631"/>
          </a:xfrm>
        </p:spPr>
        <p:txBody>
          <a:bodyPr/>
          <a:lstStyle/>
          <a:p>
            <a:r>
              <a:rPr lang="en-IN" dirty="0">
                <a:effectLst/>
              </a:rPr>
              <a:t>Puppet Slave asks for Puppet Master certificate.</a:t>
            </a:r>
          </a:p>
          <a:p>
            <a:r>
              <a:rPr lang="en-IN" dirty="0">
                <a:effectLst/>
              </a:rPr>
              <a:t>After receiving Puppet Master certificate, Master requests for Slave certificate.</a:t>
            </a:r>
          </a:p>
          <a:p>
            <a:r>
              <a:rPr lang="en-IN" dirty="0">
                <a:effectLst/>
              </a:rPr>
              <a:t>Once Master has signed the Slave certificate, Slave requests for configuration/data.</a:t>
            </a:r>
          </a:p>
          <a:p>
            <a:r>
              <a:rPr lang="en-IN" dirty="0">
                <a:effectLst/>
              </a:rPr>
              <a:t>Finally, Puppet Master will send the configuration to Puppet Slave.</a:t>
            </a:r>
          </a:p>
          <a:p>
            <a:pPr marL="18288" indent="0">
              <a:buNone/>
            </a:pPr>
            <a:endParaRPr lang="en-IN" dirty="0"/>
          </a:p>
        </p:txBody>
      </p:sp>
      <p:sp>
        <p:nvSpPr>
          <p:cNvPr id="3" name="Title 2"/>
          <p:cNvSpPr>
            <a:spLocks noGrp="1"/>
          </p:cNvSpPr>
          <p:nvPr>
            <p:ph type="title"/>
          </p:nvPr>
        </p:nvSpPr>
        <p:spPr>
          <a:xfrm>
            <a:off x="539552" y="260648"/>
            <a:ext cx="7543800" cy="914400"/>
          </a:xfrm>
        </p:spPr>
        <p:txBody>
          <a:bodyPr/>
          <a:lstStyle/>
          <a:p>
            <a:r>
              <a:rPr lang="en-IN" sz="2400" dirty="0" smtClean="0"/>
              <a:t>Puppet master-slave communication</a:t>
            </a:r>
            <a:endParaRPr lang="en-IN" sz="2400" dirty="0"/>
          </a:p>
        </p:txBody>
      </p:sp>
    </p:spTree>
    <p:extLst>
      <p:ext uri="{BB962C8B-B14F-4D97-AF65-F5344CB8AC3E}">
        <p14:creationId xmlns:p14="http://schemas.microsoft.com/office/powerpoint/2010/main" val="1923113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Title 2"/>
          <p:cNvSpPr>
            <a:spLocks noGrp="1"/>
          </p:cNvSpPr>
          <p:nvPr>
            <p:ph type="title"/>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5838" y="1196752"/>
            <a:ext cx="5648325" cy="385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3816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55576" y="1052736"/>
            <a:ext cx="7992888" cy="5184576"/>
          </a:xfrm>
        </p:spPr>
        <p:txBody>
          <a:bodyPr>
            <a:normAutofit fontScale="92500" lnSpcReduction="10000"/>
          </a:bodyPr>
          <a:lstStyle/>
          <a:p>
            <a:pPr marL="18288" indent="0">
              <a:buNone/>
            </a:pPr>
            <a:r>
              <a:rPr lang="en-IN" b="1" dirty="0">
                <a:effectLst/>
              </a:rPr>
              <a:t>M</a:t>
            </a:r>
            <a:r>
              <a:rPr lang="en-IN" b="1" dirty="0" smtClean="0">
                <a:effectLst/>
              </a:rPr>
              <a:t>anifests</a:t>
            </a:r>
            <a:r>
              <a:rPr lang="en-IN" b="1" dirty="0">
                <a:effectLst/>
              </a:rPr>
              <a:t>:</a:t>
            </a:r>
            <a:r>
              <a:rPr lang="en-IN" dirty="0">
                <a:effectLst/>
              </a:rPr>
              <a:t> Every Slave has got its configuration details in Puppet Master, written in the native Puppet language. These details are written in the language which Puppet can understand and are termed as Manifests. They are composed of Puppet code and their filenames use the </a:t>
            </a:r>
            <a:r>
              <a:rPr lang="en-IN" i="1" dirty="0">
                <a:effectLst/>
              </a:rPr>
              <a:t>.</a:t>
            </a:r>
            <a:r>
              <a:rPr lang="en-IN" i="1" dirty="0" err="1">
                <a:effectLst/>
              </a:rPr>
              <a:t>pp</a:t>
            </a:r>
            <a:r>
              <a:rPr lang="en-IN" dirty="0">
                <a:effectLst/>
              </a:rPr>
              <a:t> extension. These are basically Puppet programs</a:t>
            </a:r>
            <a:r>
              <a:rPr lang="en-IN" dirty="0" smtClean="0">
                <a:effectLst/>
              </a:rPr>
              <a:t>.</a:t>
            </a:r>
          </a:p>
          <a:p>
            <a:pPr marL="18288" indent="0">
              <a:buNone/>
            </a:pPr>
            <a:r>
              <a:rPr lang="en-IN" b="1" dirty="0">
                <a:effectLst/>
              </a:rPr>
              <a:t>Module:</a:t>
            </a:r>
            <a:r>
              <a:rPr lang="en-IN" dirty="0">
                <a:effectLst/>
              </a:rPr>
              <a:t> A Puppet Module is a collection of Manifests and data (such as facts, files, and templates), and they have a specific directory structure. Modules are useful for organizing your Puppet code, because they allow you to split your code into multiple Manifests. Modules are self-contained bundles of code and data</a:t>
            </a:r>
            <a:r>
              <a:rPr lang="en-IN" dirty="0" smtClean="0">
                <a:effectLst/>
              </a:rPr>
              <a:t>.</a:t>
            </a:r>
          </a:p>
          <a:p>
            <a:pPr marL="18288" indent="0">
              <a:buNone/>
            </a:pPr>
            <a:r>
              <a:rPr lang="en-IN" b="1" dirty="0">
                <a:effectLst/>
              </a:rPr>
              <a:t>Resource: </a:t>
            </a:r>
            <a:r>
              <a:rPr lang="en-IN" dirty="0">
                <a:effectLst/>
              </a:rPr>
              <a:t>Resources are the fundamental unit for </a:t>
            </a:r>
            <a:r>
              <a:rPr lang="en-IN" dirty="0" err="1">
                <a:effectLst/>
              </a:rPr>
              <a:t>modeling</a:t>
            </a:r>
            <a:r>
              <a:rPr lang="en-IN" dirty="0">
                <a:effectLst/>
              </a:rPr>
              <a:t> system configurations. Each Resource describes some aspect of a system, like a specific service or package.</a:t>
            </a:r>
          </a:p>
          <a:p>
            <a:pPr marL="18288" indent="0">
              <a:buNone/>
            </a:pPr>
            <a:r>
              <a:rPr lang="en-IN" b="1" dirty="0" err="1">
                <a:effectLst/>
              </a:rPr>
              <a:t>Facter</a:t>
            </a:r>
            <a:r>
              <a:rPr lang="en-IN" b="1" dirty="0">
                <a:effectLst/>
              </a:rPr>
              <a:t>: </a:t>
            </a:r>
            <a:r>
              <a:rPr lang="en-IN" dirty="0" err="1">
                <a:effectLst/>
              </a:rPr>
              <a:t>Facter</a:t>
            </a:r>
            <a:r>
              <a:rPr lang="en-IN" dirty="0">
                <a:effectLst/>
              </a:rPr>
              <a:t> gathers basic information (facts) about Puppet Slave such as hardware details, network settings, OS type and version, IP addresses, MAC addresses, SSH keys, and more. These facts are then made available in Puppet Master’s Manifests as variables.</a:t>
            </a:r>
          </a:p>
          <a:p>
            <a:pPr marL="18288" indent="0">
              <a:buNone/>
            </a:pPr>
            <a:r>
              <a:rPr lang="en-IN" dirty="0">
                <a:effectLst/>
              </a:rPr>
              <a:t> </a:t>
            </a:r>
            <a:endParaRPr lang="en-IN" dirty="0"/>
          </a:p>
        </p:txBody>
      </p:sp>
      <p:sp>
        <p:nvSpPr>
          <p:cNvPr id="3" name="Title 2"/>
          <p:cNvSpPr>
            <a:spLocks noGrp="1"/>
          </p:cNvSpPr>
          <p:nvPr>
            <p:ph type="title"/>
          </p:nvPr>
        </p:nvSpPr>
        <p:spPr>
          <a:xfrm>
            <a:off x="539552" y="260648"/>
            <a:ext cx="7543800" cy="914400"/>
          </a:xfrm>
        </p:spPr>
        <p:txBody>
          <a:bodyPr/>
          <a:lstStyle/>
          <a:p>
            <a:r>
              <a:rPr lang="en-IN" sz="2000" b="1" dirty="0">
                <a:effectLst/>
              </a:rPr>
              <a:t>Components of Puppet</a:t>
            </a:r>
            <a:r>
              <a:rPr lang="en-IN" sz="2000" dirty="0">
                <a:effectLst/>
              </a:rPr>
              <a:t/>
            </a:r>
            <a:br>
              <a:rPr lang="en-IN" sz="2000" dirty="0">
                <a:effectLst/>
              </a:rPr>
            </a:br>
            <a:endParaRPr lang="en-IN" sz="2000" dirty="0"/>
          </a:p>
        </p:txBody>
      </p:sp>
    </p:spTree>
    <p:extLst>
      <p:ext uri="{BB962C8B-B14F-4D97-AF65-F5344CB8AC3E}">
        <p14:creationId xmlns:p14="http://schemas.microsoft.com/office/powerpoint/2010/main" val="2775614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55576" y="1268760"/>
            <a:ext cx="7848872" cy="4896544"/>
          </a:xfrm>
        </p:spPr>
        <p:txBody>
          <a:bodyPr>
            <a:normAutofit fontScale="92500" lnSpcReduction="20000"/>
          </a:bodyPr>
          <a:lstStyle/>
          <a:p>
            <a:pPr marL="18288" indent="0">
              <a:buNone/>
            </a:pPr>
            <a:r>
              <a:rPr lang="en-IN" b="1" dirty="0" err="1">
                <a:effectLst/>
              </a:rPr>
              <a:t>Mcollective</a:t>
            </a:r>
            <a:r>
              <a:rPr lang="en-IN" b="1" dirty="0">
                <a:effectLst/>
              </a:rPr>
              <a:t>: </a:t>
            </a:r>
            <a:r>
              <a:rPr lang="en-IN" dirty="0">
                <a:effectLst/>
              </a:rPr>
              <a:t>It is a framework that allows several jobs to be executed in parallel on multiple Slaves. It performs various functions like:</a:t>
            </a:r>
          </a:p>
          <a:p>
            <a:r>
              <a:rPr lang="en-IN" dirty="0" smtClean="0">
                <a:effectLst/>
              </a:rPr>
              <a:t> Interact </a:t>
            </a:r>
            <a:r>
              <a:rPr lang="en-IN" dirty="0">
                <a:effectLst/>
              </a:rPr>
              <a:t>with clusters of Slaves, whether in small groups or very large deployments.</a:t>
            </a:r>
          </a:p>
          <a:p>
            <a:r>
              <a:rPr lang="en-IN" dirty="0">
                <a:effectLst/>
              </a:rPr>
              <a:t>Use a broadcast paradigm to distribute requests. All Slaves receive all requests at the same time, requests have filters attached, and only Slaves matching the filter will act on requests.</a:t>
            </a:r>
          </a:p>
          <a:p>
            <a:r>
              <a:rPr lang="en-IN" dirty="0">
                <a:effectLst/>
              </a:rPr>
              <a:t>Use simple command-line tools to call remote Slaves.</a:t>
            </a:r>
          </a:p>
          <a:p>
            <a:r>
              <a:rPr lang="en-IN" dirty="0">
                <a:effectLst/>
              </a:rPr>
              <a:t>Write custom reports about your infrastructure.</a:t>
            </a:r>
          </a:p>
          <a:p>
            <a:pPr marL="18288" indent="0">
              <a:buNone/>
            </a:pPr>
            <a:r>
              <a:rPr lang="en-IN" b="1" dirty="0" err="1">
                <a:effectLst/>
              </a:rPr>
              <a:t>Catalogs</a:t>
            </a:r>
            <a:r>
              <a:rPr lang="en-IN" b="1" dirty="0">
                <a:effectLst/>
              </a:rPr>
              <a:t>: </a:t>
            </a:r>
            <a:r>
              <a:rPr lang="en-IN" dirty="0">
                <a:effectLst/>
              </a:rPr>
              <a:t>A </a:t>
            </a:r>
            <a:r>
              <a:rPr lang="en-IN" dirty="0" err="1">
                <a:effectLst/>
              </a:rPr>
              <a:t>Catalog</a:t>
            </a:r>
            <a:r>
              <a:rPr lang="en-IN" dirty="0">
                <a:effectLst/>
              </a:rPr>
              <a:t> describes the desired state of each managed resource on a Slave. It is a compilation of all the resources that the Puppet Master applies to a given Slave, as well as the relationships between those resources. </a:t>
            </a:r>
            <a:r>
              <a:rPr lang="en-IN" dirty="0" err="1">
                <a:effectLst/>
              </a:rPr>
              <a:t>Catalogs</a:t>
            </a:r>
            <a:r>
              <a:rPr lang="en-IN" dirty="0">
                <a:effectLst/>
              </a:rPr>
              <a:t> are compiled by a Puppet Master from Manifests and Slave-provided data (such as facts, certificates, and an environment if one is provided), as well as an optional external data (such as data from an external Slave classifier, exported resources, and functions). The Master then serves the compiled </a:t>
            </a:r>
            <a:r>
              <a:rPr lang="en-IN" dirty="0" err="1">
                <a:effectLst/>
              </a:rPr>
              <a:t>Catalog</a:t>
            </a:r>
            <a:r>
              <a:rPr lang="en-IN" dirty="0">
                <a:effectLst/>
              </a:rPr>
              <a:t> to the Slave when requested.</a:t>
            </a:r>
            <a:endParaRPr lang="en-IN" dirty="0"/>
          </a:p>
        </p:txBody>
      </p:sp>
      <p:sp>
        <p:nvSpPr>
          <p:cNvPr id="3" name="Title 2"/>
          <p:cNvSpPr>
            <a:spLocks noGrp="1"/>
          </p:cNvSpPr>
          <p:nvPr>
            <p:ph type="title"/>
          </p:nvPr>
        </p:nvSpPr>
        <p:spPr>
          <a:xfrm>
            <a:off x="971600" y="0"/>
            <a:ext cx="7543800" cy="914400"/>
          </a:xfrm>
        </p:spPr>
        <p:txBody>
          <a:bodyPr/>
          <a:lstStyle/>
          <a:p>
            <a:endParaRPr lang="en-IN" dirty="0"/>
          </a:p>
        </p:txBody>
      </p:sp>
    </p:spTree>
    <p:extLst>
      <p:ext uri="{BB962C8B-B14F-4D97-AF65-F5344CB8AC3E}">
        <p14:creationId xmlns:p14="http://schemas.microsoft.com/office/powerpoint/2010/main" val="30320071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Elemental</Template>
  <TotalTime>579</TotalTime>
  <Words>232</Words>
  <Application>Microsoft Office PowerPoint</Application>
  <PresentationFormat>On-screen Show (4:3)</PresentationFormat>
  <Paragraphs>56</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Elemental</vt:lpstr>
      <vt:lpstr>Puppet Basics</vt:lpstr>
      <vt:lpstr>What is Puppet? </vt:lpstr>
      <vt:lpstr> Features of Puppet </vt:lpstr>
      <vt:lpstr>Current Users</vt:lpstr>
      <vt:lpstr>Configuration </vt:lpstr>
      <vt:lpstr>Architecture</vt:lpstr>
      <vt:lpstr>Puppet master-slave communication</vt:lpstr>
      <vt:lpstr>PowerPoint Presentation</vt:lpstr>
      <vt:lpstr>Components of Puppet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Puppet Basics</dc:title>
  <dc:creator>Admin</dc:creator>
  <cp:lastModifiedBy>Admin</cp:lastModifiedBy>
  <cp:revision>13</cp:revision>
  <dcterms:created xsi:type="dcterms:W3CDTF">2018-02-25T10:23:39Z</dcterms:created>
  <dcterms:modified xsi:type="dcterms:W3CDTF">2018-02-26T16:53:26Z</dcterms:modified>
</cp:coreProperties>
</file>